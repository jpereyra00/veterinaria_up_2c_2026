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Presentar brevemente la materia, el dominio (clínica veterinaria) y el arco de la cursada.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sistema es UNO y evoluciona. El dominio no cambia — la arquitectura sí. Eso es el aprendizaje.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live coding NO es tutorial. Es el andamiaje arquitectural. El resto lo resuelven ellos.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Dejar muy claro que el 40 minutos de sprint es tiempo de trabajo real, no lectura.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La clave: no es solo aprender tecnología. Es aprender a tomar decisiones de arquitectura.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0"/>
            <a:ext cx="2194560" cy="5143500"/>
          </a:xfrm>
          <a:prstGeom prst="rect">
            <a:avLst/>
          </a:prstGeom>
          <a:solidFill>
            <a:srgbClr val="1B2B3E"/>
          </a:solidFill>
          <a:ln w="12700">
            <a:solidFill>
              <a:srgbClr val="1B2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0"/>
            <a:ext cx="822960" cy="514350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320040"/>
            <a:ext cx="1097280" cy="10789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95160" y="15087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Palermo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365760" y="411480"/>
            <a:ext cx="3474720" cy="292608"/>
          </a:xfrm>
          <a:prstGeom prst="roundRect">
            <a:avLst>
              <a:gd name="adj" fmla="val 18750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1148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 ELECTIVA  ·  UNIVERSIDAD DE PALERMO  ·  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65760" y="9144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 y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365760" y="14173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Escalables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365760" y="230428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Spring Boot 4.1.0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65760" y="2926080"/>
            <a:ext cx="27432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309067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Jorge Agustín Pereyra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65760" y="343814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Ingeniero de Software · Docente · GAAS Software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4069080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E3050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40690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4.1.0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514600" y="4069080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E3050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514600" y="40690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663440" y="4069080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E3050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63440" y="40690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65760" y="4416552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E3050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5760" y="44165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514600" y="4416552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E3050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514600" y="44165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663440" y="4416552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E3050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663440" y="44165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 y APIs Escalables · Universidad de Palermo ·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6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0" dirty="0"/>
          </a:p>
        </p:txBody>
      </p:sp>
      <p:sp>
        <p:nvSpPr>
          <p:cNvPr id="3" name="Shape 1"/>
          <p:cNvSpPr/>
          <p:nvPr/>
        </p:nvSpPr>
        <p:spPr>
          <a:xfrm>
            <a:off x="274320" y="1600200"/>
            <a:ext cx="10972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71907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CONSTRUIMOS?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432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 monolito a una arquitectura de microservicios real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 y APIs Escalables · Universidad de Palermo ·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Integrador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 Veterinaria 'Patitas Felices' — un sistema que evoluciona sprint a sprint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029968" cy="1371600"/>
          </a:xfrm>
          <a:prstGeom prst="roundRect">
            <a:avLst>
              <a:gd name="adj" fmla="val 6667"/>
            </a:avLst>
          </a:prstGeom>
          <a:solidFill>
            <a:srgbClr val="162233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170432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627632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Dueño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1956816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nombre, DNI, teléfono, email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542032" y="1051560"/>
            <a:ext cx="2029968" cy="1371600"/>
          </a:xfrm>
          <a:prstGeom prst="roundRect">
            <a:avLst>
              <a:gd name="adj" fmla="val 6667"/>
            </a:avLst>
          </a:prstGeom>
          <a:solidFill>
            <a:srgbClr val="162233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416" y="117043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42032" y="1627632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Mascota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633472" y="1956816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especie, raza, fechaNacimiento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718304" y="1051560"/>
            <a:ext cx="2029968" cy="1371600"/>
          </a:xfrm>
          <a:prstGeom prst="roundRect">
            <a:avLst>
              <a:gd name="adj" fmla="val 6667"/>
            </a:avLst>
          </a:prstGeom>
          <a:solidFill>
            <a:srgbClr val="162233"/>
          </a:solidFill>
          <a:ln w="1270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1170432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18304" y="1627632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Veterinario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809744" y="1956816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matrícula, especialidad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6894576" y="1051560"/>
            <a:ext cx="2029968" cy="1371600"/>
          </a:xfrm>
          <a:prstGeom prst="roundRect">
            <a:avLst>
              <a:gd name="adj" fmla="val 6667"/>
            </a:avLst>
          </a:prstGeom>
          <a:solidFill>
            <a:srgbClr val="162233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170432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94576" y="1627632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986016" y="1956816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fecha, hora, estado, motivo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365760" y="2606040"/>
            <a:ext cx="3931920" cy="2212848"/>
          </a:xfrm>
          <a:prstGeom prst="roundRect">
            <a:avLst>
              <a:gd name="adj" fmla="val 4959"/>
            </a:avLst>
          </a:prstGeom>
          <a:solidFill>
            <a:srgbClr val="16223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02920" y="2679192"/>
            <a:ext cx="1371600" cy="237744"/>
          </a:xfrm>
          <a:prstGeom prst="roundRect">
            <a:avLst>
              <a:gd name="adj" fmla="val 19231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502920" y="267919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Sprints 1–7</a:t>
            </a:r>
            <a:endParaRPr lang="en-US" sz="8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017520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87552" y="303580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Monolito MVC</a:t>
            </a:r>
            <a:endParaRPr lang="en-US" sz="15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3493008"/>
            <a:ext cx="182880" cy="1828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86384" y="347472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4.1.0 + JPA + MySQL</a:t>
            </a:r>
            <a:endParaRPr lang="en-US" sz="10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" y="3822192"/>
            <a:ext cx="182880" cy="18288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86384" y="3803904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completa (Dueño, Mascota, Vet, Turno)</a:t>
            </a:r>
            <a:endParaRPr lang="en-US" sz="10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352" y="4151376"/>
            <a:ext cx="182880" cy="18288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786384" y="413308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DTOs + validaciones + manejo de errores</a:t>
            </a:r>
            <a:endParaRPr lang="en-US" sz="100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0352" y="4480560"/>
            <a:ext cx="182880" cy="18288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786384" y="446227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JUnit 5 + Mockito · Swagger</a:t>
            </a:r>
            <a:endParaRPr lang="en-US" sz="100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0352" y="4809744"/>
            <a:ext cx="182880" cy="18288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786384" y="479145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+ JS Fetch (frontend)</a:t>
            </a:r>
            <a:endParaRPr lang="en-US" sz="1000" dirty="0"/>
          </a:p>
        </p:txBody>
      </p:sp>
      <p:sp>
        <p:nvSpPr>
          <p:cNvPr id="35" name="Text 23"/>
          <p:cNvSpPr/>
          <p:nvPr/>
        </p:nvSpPr>
        <p:spPr>
          <a:xfrm>
            <a:off x="4325112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36" name="Shape 24"/>
          <p:cNvSpPr/>
          <p:nvPr/>
        </p:nvSpPr>
        <p:spPr>
          <a:xfrm>
            <a:off x="4828032" y="2606040"/>
            <a:ext cx="3950208" cy="2212848"/>
          </a:xfrm>
          <a:prstGeom prst="roundRect">
            <a:avLst>
              <a:gd name="adj" fmla="val 4959"/>
            </a:avLst>
          </a:prstGeom>
          <a:solidFill>
            <a:srgbClr val="16223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7" name="Shape 25"/>
          <p:cNvSpPr/>
          <p:nvPr/>
        </p:nvSpPr>
        <p:spPr>
          <a:xfrm>
            <a:off x="4965192" y="2679192"/>
            <a:ext cx="1463040" cy="237744"/>
          </a:xfrm>
          <a:prstGeom prst="roundRect">
            <a:avLst>
              <a:gd name="adj" fmla="val 19231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8" name="Text 26"/>
          <p:cNvSpPr/>
          <p:nvPr/>
        </p:nvSpPr>
        <p:spPr>
          <a:xfrm>
            <a:off x="4965192" y="267919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Sprints 9–14</a:t>
            </a:r>
            <a:endParaRPr lang="en-US" sz="800" dirty="0"/>
          </a:p>
        </p:txBody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10912" y="3017520"/>
            <a:ext cx="347472" cy="347472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5449824" y="303580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</a:t>
            </a:r>
            <a:endParaRPr lang="en-US" sz="1500" dirty="0"/>
          </a:p>
        </p:txBody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92624" y="3493008"/>
            <a:ext cx="182880" cy="182880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5248656" y="3474720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Hexagonal · Eureka · Config Server</a:t>
            </a:r>
            <a:endParaRPr lang="en-US" sz="1000" dirty="0"/>
          </a:p>
        </p:txBody>
      </p:sp>
      <p:pic>
        <p:nvPicPr>
          <p:cNvPr id="4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92624" y="3822192"/>
            <a:ext cx="182880" cy="182880"/>
          </a:xfrm>
          <a:prstGeom prst="rect">
            <a:avLst/>
          </a:prstGeom>
        </p:spPr>
      </p:pic>
      <p:sp>
        <p:nvSpPr>
          <p:cNvPr id="44" name="Text 29"/>
          <p:cNvSpPr/>
          <p:nvPr/>
        </p:nvSpPr>
        <p:spPr>
          <a:xfrm>
            <a:off x="5248656" y="3803904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+ Resilience4J (Circuit Breaker)</a:t>
            </a:r>
            <a:endParaRPr lang="en-US" sz="1000" dirty="0"/>
          </a:p>
        </p:txBody>
      </p:sp>
      <p:pic>
        <p:nvPicPr>
          <p:cNvPr id="4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92624" y="4151376"/>
            <a:ext cx="182880" cy="182880"/>
          </a:xfrm>
          <a:prstGeom prst="rect">
            <a:avLst/>
          </a:prstGeom>
        </p:spPr>
      </p:pic>
      <p:sp>
        <p:nvSpPr>
          <p:cNvPr id="46" name="Text 30"/>
          <p:cNvSpPr/>
          <p:nvPr/>
        </p:nvSpPr>
        <p:spPr>
          <a:xfrm>
            <a:off x="5248656" y="4133088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+ JWT (roles ADMIN / VET)</a:t>
            </a:r>
            <a:endParaRPr lang="en-US" sz="1000" dirty="0"/>
          </a:p>
        </p:txBody>
      </p:sp>
      <p:pic>
        <p:nvPicPr>
          <p:cNvPr id="4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92624" y="4480560"/>
            <a:ext cx="182880" cy="182880"/>
          </a:xfrm>
          <a:prstGeom prst="rect">
            <a:avLst/>
          </a:prstGeom>
        </p:spPr>
      </p:pic>
      <p:sp>
        <p:nvSpPr>
          <p:cNvPr id="48" name="Text 31"/>
          <p:cNvSpPr/>
          <p:nvPr/>
        </p:nvSpPr>
        <p:spPr>
          <a:xfrm>
            <a:off x="5248656" y="4462272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OpenFeign (comunicación entre servicios)</a:t>
            </a:r>
            <a:endParaRPr lang="en-US" sz="1000" dirty="0"/>
          </a:p>
        </p:txBody>
      </p:sp>
      <p:pic>
        <p:nvPicPr>
          <p:cNvPr id="4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92624" y="4809744"/>
            <a:ext cx="182880" cy="182880"/>
          </a:xfrm>
          <a:prstGeom prst="rect">
            <a:avLst/>
          </a:prstGeom>
        </p:spPr>
      </p:pic>
      <p:sp>
        <p:nvSpPr>
          <p:cNvPr id="50" name="Text 32"/>
          <p:cNvSpPr/>
          <p:nvPr/>
        </p:nvSpPr>
        <p:spPr>
          <a:xfrm>
            <a:off x="5248656" y="4791456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· MongoDB · Docker Compose</a:t>
            </a:r>
            <a:endParaRPr lang="en-US" sz="1000" dirty="0"/>
          </a:p>
        </p:txBody>
      </p:sp>
      <p:sp>
        <p:nvSpPr>
          <p:cNvPr id="51" name="Text 33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 y APIs Escalables · Universidad de Palermo ·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6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0" dirty="0"/>
          </a:p>
        </p:txBody>
      </p:sp>
      <p:sp>
        <p:nvSpPr>
          <p:cNvPr id="3" name="Shape 1"/>
          <p:cNvSpPr/>
          <p:nvPr/>
        </p:nvSpPr>
        <p:spPr>
          <a:xfrm>
            <a:off x="274320" y="1600200"/>
            <a:ext cx="109728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71907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Y METODOLOGÍA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432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Ingeniero de Software + Programadores + Scrum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 y APIs Escalables · Universidad de Palermo ·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 trabajo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Simulamos un equipo real de software durante toda la cursada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858768" cy="3749040"/>
          </a:xfrm>
          <a:prstGeom prst="roundRect">
            <a:avLst>
              <a:gd name="adj" fmla="val 3415"/>
            </a:avLst>
          </a:prstGeom>
          <a:solidFill>
            <a:srgbClr val="162233"/>
          </a:solidFill>
          <a:ln w="254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2768" y="1170432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82880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Ingeniero de Software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221284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(el docente)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12064" y="2633472"/>
            <a:ext cx="109728" cy="109728"/>
          </a:xfrm>
          <a:prstGeom prst="oval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4944" y="2596896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la arquitectura del sistema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12064" y="3017520"/>
            <a:ext cx="109728" cy="109728"/>
          </a:xfrm>
          <a:prstGeom prst="oval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4944" y="2980944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Actúa como Product Owner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12064" y="3401568"/>
            <a:ext cx="109728" cy="109728"/>
          </a:xfrm>
          <a:prstGeom prst="oval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4944" y="3364992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 live coding de la parte clave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12064" y="3785616"/>
            <a:ext cx="109728" cy="109728"/>
          </a:xfrm>
          <a:prstGeom prst="oval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4944" y="3749040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el POR QUÉ de cada decisión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12064" y="4169664"/>
            <a:ext cx="109728" cy="109728"/>
          </a:xfrm>
          <a:prstGeom prst="oval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4944" y="4133088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 el código entregado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25196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600" dirty="0"/>
          </a:p>
        </p:txBody>
      </p:sp>
      <p:sp>
        <p:nvSpPr>
          <p:cNvPr id="19" name="Shape 16"/>
          <p:cNvSpPr/>
          <p:nvPr/>
        </p:nvSpPr>
        <p:spPr>
          <a:xfrm>
            <a:off x="4919472" y="1005840"/>
            <a:ext cx="3858768" cy="3749040"/>
          </a:xfrm>
          <a:prstGeom prst="roundRect">
            <a:avLst>
              <a:gd name="adj" fmla="val 3415"/>
            </a:avLst>
          </a:prstGeom>
          <a:solidFill>
            <a:srgbClr val="162233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170432"/>
            <a:ext cx="594360" cy="5943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010912" y="182880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Programador Junior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5010912" y="221284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(los estudiantes — en parejas)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065776" y="2633472"/>
            <a:ext cx="109728" cy="109728"/>
          </a:xfrm>
          <a:prstGeom prst="oval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248656" y="2596896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la funcionalidad del sprint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5065776" y="3017520"/>
            <a:ext cx="109728" cy="109728"/>
          </a:xfrm>
          <a:prstGeom prst="oval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248656" y="2980944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 tests y validaciones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5065776" y="3401568"/>
            <a:ext cx="109728" cy="109728"/>
          </a:xfrm>
          <a:prstGeom prst="oval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248656" y="3364992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 code review con su compañero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5065776" y="3785616"/>
            <a:ext cx="109728" cy="109728"/>
          </a:xfrm>
          <a:prstGeom prst="oval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248656" y="3749040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 sus decisiones técnicas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5065776" y="4169664"/>
            <a:ext cx="109728" cy="109728"/>
          </a:xfrm>
          <a:prstGeom prst="oval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248656" y="4133088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Cumple la Definition of Done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 y APIs Escalables · Universidad de Palermo ·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de cada clase (sprint)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horas · 5 momentos · un entregable concreto al final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609344" cy="3749040"/>
          </a:xfrm>
          <a:prstGeom prst="roundRect">
            <a:avLst>
              <a:gd name="adj" fmla="val 5682"/>
            </a:avLst>
          </a:prstGeom>
          <a:solidFill>
            <a:srgbClr val="162233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0392" y="1188720"/>
            <a:ext cx="438912" cy="438912"/>
          </a:xfrm>
          <a:prstGeom prst="oval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188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719072"/>
            <a:ext cx="1444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144475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del sprint anterior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del ISW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56232" y="26974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011680" y="1051560"/>
            <a:ext cx="1609344" cy="3749040"/>
          </a:xfrm>
          <a:prstGeom prst="roundRect">
            <a:avLst>
              <a:gd name="adj" fmla="val 5682"/>
            </a:avLst>
          </a:prstGeom>
          <a:solidFill>
            <a:srgbClr val="162233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87752" y="1188720"/>
            <a:ext cx="438912" cy="438912"/>
          </a:xfrm>
          <a:prstGeom prst="oval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87752" y="1188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1719072"/>
            <a:ext cx="1444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03120" y="2240280"/>
            <a:ext cx="144475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del sprint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esta decisión?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93592" y="26974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749040" y="1051560"/>
            <a:ext cx="1609344" cy="3749040"/>
          </a:xfrm>
          <a:prstGeom prst="roundRect">
            <a:avLst>
              <a:gd name="adj" fmla="val 5682"/>
            </a:avLst>
          </a:prstGeom>
          <a:solidFill>
            <a:srgbClr val="162233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25112" y="1188720"/>
            <a:ext cx="438912" cy="438912"/>
          </a:xfrm>
          <a:prstGeom prst="oval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25112" y="1188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0" y="1719072"/>
            <a:ext cx="1444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0480" y="2240280"/>
            <a:ext cx="144475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ISW codea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parte clave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30952" y="26974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486400" y="1051560"/>
            <a:ext cx="1609344" cy="3749040"/>
          </a:xfrm>
          <a:prstGeom prst="roundRect">
            <a:avLst>
              <a:gd name="adj" fmla="val 5682"/>
            </a:avLst>
          </a:prstGeom>
          <a:solidFill>
            <a:srgbClr val="162233"/>
          </a:solidFill>
          <a:ln w="1270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62472" y="1188720"/>
            <a:ext cx="438912" cy="438912"/>
          </a:xfrm>
          <a:prstGeom prst="oval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62472" y="1188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77840" y="1719072"/>
            <a:ext cx="1444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77840" y="2240280"/>
            <a:ext cx="144475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parejas completan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backlog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68312" y="26974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223760" y="1051560"/>
            <a:ext cx="1609344" cy="3749040"/>
          </a:xfrm>
          <a:prstGeom prst="roundRect">
            <a:avLst>
              <a:gd name="adj" fmla="val 5682"/>
            </a:avLst>
          </a:prstGeom>
          <a:solidFill>
            <a:srgbClr val="162233"/>
          </a:solidFill>
          <a:ln w="12700">
            <a:solidFill>
              <a:srgbClr val="8FAFC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99832" y="1188720"/>
            <a:ext cx="438912" cy="438912"/>
          </a:xfrm>
          <a:prstGeom prst="oval">
            <a:avLst/>
          </a:prstGeom>
          <a:solidFill>
            <a:srgbClr val="8FAFC7"/>
          </a:solidFill>
          <a:ln w="12700">
            <a:solidFill>
              <a:srgbClr val="8FAF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99832" y="1188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0" y="1719072"/>
            <a:ext cx="1444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 / DoD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15200" y="2240280"/>
            <a:ext cx="144475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aprendimos?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 y APIs Escalables · Universidad de Palermo ·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6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0" dirty="0"/>
          </a:p>
        </p:txBody>
      </p:sp>
      <p:sp>
        <p:nvSpPr>
          <p:cNvPr id="3" name="Shape 1"/>
          <p:cNvSpPr/>
          <p:nvPr/>
        </p:nvSpPr>
        <p:spPr>
          <a:xfrm>
            <a:off x="274320" y="1600200"/>
            <a:ext cx="1097280" cy="54864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71907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432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sprints funcionales · 1 parcial · 1 oral · 1 recuperatorio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 y APIs Escalables · Universidad de Palermo ·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Monolito MVC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1 a 7 · Clínica Veterinaria · Spring Boot 4.1.0 + JPA + Bootstrap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2066544" cy="1691640"/>
          </a:xfrm>
          <a:prstGeom prst="roundRect">
            <a:avLst>
              <a:gd name="adj" fmla="val 5405"/>
            </a:avLst>
          </a:prstGeom>
          <a:solidFill>
            <a:srgbClr val="16223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192" y="107899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1078992"/>
            <a:ext cx="384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+ dominio + setup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066544"/>
            <a:ext cx="1901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4.1.0 · Git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14600" y="987552"/>
            <a:ext cx="2066544" cy="1691640"/>
          </a:xfrm>
          <a:prstGeom prst="roundRect">
            <a:avLst>
              <a:gd name="adj" fmla="val 5405"/>
            </a:avLst>
          </a:prstGeom>
          <a:solidFill>
            <a:srgbClr val="16223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87752" y="107899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87752" y="1078992"/>
            <a:ext cx="384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06040" y="137160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+ REST · CRUD Dueño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06040" y="2066544"/>
            <a:ext cx="1901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MVC · REST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987552"/>
            <a:ext cx="2066544" cy="1691640"/>
          </a:xfrm>
          <a:prstGeom prst="roundRect">
            <a:avLst>
              <a:gd name="adj" fmla="val 5405"/>
            </a:avLst>
          </a:prstGeom>
          <a:solidFill>
            <a:srgbClr val="16223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2312" y="107899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2312" y="1078992"/>
            <a:ext cx="384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137160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+ relaciones · CRUD Mascota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2066544"/>
            <a:ext cx="1901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· Hibernate · MySQL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903720" y="987552"/>
            <a:ext cx="2066544" cy="1691640"/>
          </a:xfrm>
          <a:prstGeom prst="roundRect">
            <a:avLst>
              <a:gd name="adj" fmla="val 5405"/>
            </a:avLst>
          </a:prstGeom>
          <a:solidFill>
            <a:srgbClr val="16223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76872" y="107899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76872" y="1078992"/>
            <a:ext cx="384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95160" y="137160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Turno + Veterinario + DTOs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95160" y="2066544"/>
            <a:ext cx="1901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MapStruct · Lombok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2862072"/>
            <a:ext cx="2066544" cy="1691640"/>
          </a:xfrm>
          <a:prstGeom prst="roundRect">
            <a:avLst>
              <a:gd name="adj" fmla="val 5405"/>
            </a:avLst>
          </a:prstGeom>
          <a:solidFill>
            <a:srgbClr val="16223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3192" y="295351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3192" y="2953512"/>
            <a:ext cx="384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11480" y="324612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 + manejo de errores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3941064"/>
            <a:ext cx="1901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Validation · @ControllerAdvice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14600" y="2862072"/>
            <a:ext cx="2066544" cy="1691640"/>
          </a:xfrm>
          <a:prstGeom prst="roundRect">
            <a:avLst>
              <a:gd name="adj" fmla="val 5405"/>
            </a:avLst>
          </a:prstGeom>
          <a:solidFill>
            <a:srgbClr val="16223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87752" y="295351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87752" y="2953512"/>
            <a:ext cx="384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606040" y="324612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Testing: JUnit 5 + Mockito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606040" y="3941064"/>
            <a:ext cx="1901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· Mockito · MockMvc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09160" y="2862072"/>
            <a:ext cx="2066544" cy="1691640"/>
          </a:xfrm>
          <a:prstGeom prst="roundRect">
            <a:avLst>
              <a:gd name="adj" fmla="val 5405"/>
            </a:avLst>
          </a:prstGeom>
          <a:solidFill>
            <a:srgbClr val="16223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82312" y="295351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82312" y="2953512"/>
            <a:ext cx="384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00600" y="324612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+ Bootstrap UI + migración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00600" y="3941064"/>
            <a:ext cx="1901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3 · Bootstrap 5 · JS Fetch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0040" y="4572000"/>
            <a:ext cx="8503920" cy="320040"/>
          </a:xfrm>
          <a:prstGeom prst="roundRect">
            <a:avLst>
              <a:gd name="adj" fmla="val 22857"/>
            </a:avLst>
          </a:prstGeom>
          <a:solidFill>
            <a:srgbClr val="1A0A0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45720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PARCIAL 1 — Individual · Teoría + API veterinaria funcionando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 y APIs Escalables · Universidad de Palermo ·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Microservicios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9 a 14 · Spring Cloud · Hexagonal · Docker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2788920" cy="1737360"/>
          </a:xfrm>
          <a:prstGeom prst="roundRect">
            <a:avLst>
              <a:gd name="adj" fmla="val 5263"/>
            </a:avLst>
          </a:prstGeom>
          <a:solidFill>
            <a:srgbClr val="16223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78992"/>
            <a:ext cx="420624" cy="237744"/>
          </a:xfrm>
          <a:prstGeom prst="roundRect">
            <a:avLst>
              <a:gd name="adj" fmla="val 19231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78992"/>
            <a:ext cx="420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29768" y="1426464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Hexagonal + extracción de servicios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2084832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Hexagonal · DDD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987552"/>
            <a:ext cx="2788920" cy="1737360"/>
          </a:xfrm>
          <a:prstGeom prst="roundRect">
            <a:avLst>
              <a:gd name="adj" fmla="val 5263"/>
            </a:avLst>
          </a:prstGeom>
          <a:solidFill>
            <a:srgbClr val="16223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078992"/>
            <a:ext cx="420624" cy="237744"/>
          </a:xfrm>
          <a:prstGeom prst="roundRect">
            <a:avLst>
              <a:gd name="adj" fmla="val 19231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078992"/>
            <a:ext cx="420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55848" y="1426464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 + Config Server + Actuator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55848" y="2084832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 · Micrometer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987552"/>
            <a:ext cx="2788920" cy="1737360"/>
          </a:xfrm>
          <a:prstGeom prst="roundRect">
            <a:avLst>
              <a:gd name="adj" fmla="val 5263"/>
            </a:avLst>
          </a:prstGeom>
          <a:solidFill>
            <a:srgbClr val="16223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1078992"/>
            <a:ext cx="420624" cy="237744"/>
          </a:xfrm>
          <a:prstGeom prst="roundRect">
            <a:avLst>
              <a:gd name="adj" fmla="val 19231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078992"/>
            <a:ext cx="420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81928" y="1426464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+ Resilience4J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81928" y="2084832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 Gateway · Circuit Breaker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953512"/>
            <a:ext cx="2788920" cy="1737360"/>
          </a:xfrm>
          <a:prstGeom prst="roundRect">
            <a:avLst>
              <a:gd name="adj" fmla="val 5263"/>
            </a:avLst>
          </a:prstGeom>
          <a:solidFill>
            <a:srgbClr val="162233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044952"/>
            <a:ext cx="420624" cy="237744"/>
          </a:xfrm>
          <a:prstGeom prst="roundRect">
            <a:avLst>
              <a:gd name="adj" fmla="val 19231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044952"/>
            <a:ext cx="420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29768" y="3392424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+ JWT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9768" y="4050792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6 · Bearer Token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46120" y="2953512"/>
            <a:ext cx="2788920" cy="1737360"/>
          </a:xfrm>
          <a:prstGeom prst="roundRect">
            <a:avLst>
              <a:gd name="adj" fmla="val 5263"/>
            </a:avLst>
          </a:prstGeom>
          <a:solidFill>
            <a:srgbClr val="162233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37560" y="3044952"/>
            <a:ext cx="420624" cy="237744"/>
          </a:xfrm>
          <a:prstGeom prst="roundRect">
            <a:avLst>
              <a:gd name="adj" fmla="val 19231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3044952"/>
            <a:ext cx="420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55848" y="3392424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OpenFeign — comunicación entre MS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55848" y="4050792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OpenFeign · LoadBalancer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72200" y="2953512"/>
            <a:ext cx="2788920" cy="1737360"/>
          </a:xfrm>
          <a:prstGeom prst="roundRect">
            <a:avLst>
              <a:gd name="adj" fmla="val 5263"/>
            </a:avLst>
          </a:prstGeom>
          <a:solidFill>
            <a:srgbClr val="162233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63640" y="3044952"/>
            <a:ext cx="420624" cy="237744"/>
          </a:xfrm>
          <a:prstGeom prst="roundRect">
            <a:avLst>
              <a:gd name="adj" fmla="val 19231"/>
            </a:avLst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3044952"/>
            <a:ext cx="420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81928" y="3392424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+ MongoDB + Docker Compose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81928" y="4050792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 · MongoDB 7 · Docker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4572000"/>
            <a:ext cx="8503920" cy="320040"/>
          </a:xfrm>
          <a:prstGeom prst="roundRect">
            <a:avLst>
              <a:gd name="adj" fmla="val 22857"/>
            </a:avLst>
          </a:prstGeom>
          <a:solidFill>
            <a:srgbClr val="001A0A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5720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ORAL — Individual · Demo en vivo + defensa de arquitectura    |    🔄  RECUPERATORIO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 y APIs Escalables · Universidad de Palermo ·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6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0" dirty="0"/>
          </a:p>
        </p:txBody>
      </p:sp>
      <p:sp>
        <p:nvSpPr>
          <p:cNvPr id="3" name="Shape 1"/>
          <p:cNvSpPr/>
          <p:nvPr/>
        </p:nvSpPr>
        <p:spPr>
          <a:xfrm>
            <a:off x="274320" y="1600200"/>
            <a:ext cx="1097280" cy="5486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71907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432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y RNF del sistema VetSystem — IEEE 29148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 y APIs Escalables · Universidad de Palermo ·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Funcionales — resumen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0350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requisitos funcionales identificados en la elicitación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4251960" cy="1188720"/>
          </a:xfrm>
          <a:prstGeom prst="roundRect">
            <a:avLst>
              <a:gd name="adj" fmla="val 7692"/>
            </a:avLst>
          </a:prstGeom>
          <a:solidFill>
            <a:srgbClr val="162233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24712"/>
            <a:ext cx="347472" cy="3474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86968" y="1097280"/>
            <a:ext cx="1097280" cy="201168"/>
          </a:xfrm>
          <a:prstGeom prst="roundRect">
            <a:avLst>
              <a:gd name="adj" fmla="val 18182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6968" y="10972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RF-01 a RF-04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057400" y="107899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Dueños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1517904"/>
            <a:ext cx="40050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Registrar, consultar, actualizar y eliminar dueños con validación de DNI único.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987552"/>
            <a:ext cx="4251960" cy="1188720"/>
          </a:xfrm>
          <a:prstGeom prst="roundRect">
            <a:avLst>
              <a:gd name="adj" fmla="val 7692"/>
            </a:avLst>
          </a:prstGeom>
          <a:solidFill>
            <a:srgbClr val="162233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124712"/>
            <a:ext cx="347472" cy="34747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321808" y="1097280"/>
            <a:ext cx="1097280" cy="201168"/>
          </a:xfrm>
          <a:prstGeom prst="roundRect">
            <a:avLst>
              <a:gd name="adj" fmla="val 18182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321808" y="10972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RF-05 a RF-07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6492240" y="107899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Mascotas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892040" y="1517904"/>
            <a:ext cx="40050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ABM de mascotas asociadas a un dueño. Relación @ManyToOne con Dueño.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20040" y="2313432"/>
            <a:ext cx="4251960" cy="1188720"/>
          </a:xfrm>
          <a:prstGeom prst="roundRect">
            <a:avLst>
              <a:gd name="adj" fmla="val 7692"/>
            </a:avLst>
          </a:prstGeom>
          <a:solidFill>
            <a:srgbClr val="162233"/>
          </a:solidFill>
          <a:ln w="12700">
            <a:solidFill>
              <a:srgbClr val="2DC653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50592"/>
            <a:ext cx="347472" cy="34747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886968" y="2423160"/>
            <a:ext cx="1097280" cy="201168"/>
          </a:xfrm>
          <a:prstGeom prst="roundRect">
            <a:avLst>
              <a:gd name="adj" fmla="val 18182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86968" y="242316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RF-08 a RF-09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2057400" y="240487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Veterinarios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57200" y="2843784"/>
            <a:ext cx="40050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ABM de veterinarios. Consulta con caché Redis en la fase de microservicios.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754880" y="2313432"/>
            <a:ext cx="4251960" cy="1188720"/>
          </a:xfrm>
          <a:prstGeom prst="roundRect">
            <a:avLst>
              <a:gd name="adj" fmla="val 7692"/>
            </a:avLst>
          </a:prstGeom>
          <a:solidFill>
            <a:srgbClr val="162233"/>
          </a:solidFill>
          <a:ln w="12700">
            <a:solidFill>
              <a:srgbClr val="0077B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450592"/>
            <a:ext cx="347472" cy="347472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5321808" y="2423160"/>
            <a:ext cx="1097280" cy="201168"/>
          </a:xfrm>
          <a:prstGeom prst="roundRect">
            <a:avLst>
              <a:gd name="adj" fmla="val 18182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321808" y="242316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RF-10 a RF-13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6492240" y="240487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Turnos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892040" y="2843784"/>
            <a:ext cx="40050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turnos sin superposición. Actualizar estado. Historial en MongoDB.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20040" y="3639312"/>
            <a:ext cx="4251960" cy="1188720"/>
          </a:xfrm>
          <a:prstGeom prst="roundRect">
            <a:avLst>
              <a:gd name="adj" fmla="val 7692"/>
            </a:avLst>
          </a:prstGeom>
          <a:solidFill>
            <a:srgbClr val="162233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776472"/>
            <a:ext cx="347472" cy="347472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886968" y="3749040"/>
            <a:ext cx="1097280" cy="201168"/>
          </a:xfrm>
          <a:prstGeom prst="roundRect">
            <a:avLst>
              <a:gd name="adj" fmla="val 18182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886968" y="37490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RF-14 a RF-15</a:t>
            </a:r>
            <a:endParaRPr lang="en-US" sz="800" dirty="0"/>
          </a:p>
        </p:txBody>
      </p:sp>
      <p:sp>
        <p:nvSpPr>
          <p:cNvPr id="32" name="Text 25"/>
          <p:cNvSpPr/>
          <p:nvPr/>
        </p:nvSpPr>
        <p:spPr>
          <a:xfrm>
            <a:off x="2057400" y="373075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Acceso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457200" y="4169664"/>
            <a:ext cx="40050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con JWT. Roles ADMIN y VETERINARIO. El Gateway valida el token antes de rutear.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4754880" y="3639312"/>
            <a:ext cx="4251960" cy="1188720"/>
          </a:xfrm>
          <a:prstGeom prst="roundRect">
            <a:avLst>
              <a:gd name="adj" fmla="val 7692"/>
            </a:avLst>
          </a:prstGeom>
          <a:solidFill>
            <a:srgbClr val="162233"/>
          </a:solidFill>
          <a:ln w="12700">
            <a:solidFill>
              <a:srgbClr val="2DC653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776472"/>
            <a:ext cx="347472" cy="347472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5321808" y="3749040"/>
            <a:ext cx="1097280" cy="201168"/>
          </a:xfrm>
          <a:prstGeom prst="roundRect">
            <a:avLst>
              <a:gd name="adj" fmla="val 18182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5321808" y="37490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RF-16</a:t>
            </a:r>
            <a:endParaRPr lang="en-US" sz="800" dirty="0"/>
          </a:p>
        </p:txBody>
      </p:sp>
      <p:sp>
        <p:nvSpPr>
          <p:cNvPr id="38" name="Text 30"/>
          <p:cNvSpPr/>
          <p:nvPr/>
        </p:nvSpPr>
        <p:spPr>
          <a:xfrm>
            <a:off x="6492240" y="373075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Resiliencia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4892040" y="4169664"/>
            <a:ext cx="40050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en el Gateway. Si ms-veterinario falla, el sistema devuelve fallback.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 y APIs Escalables · Universidad de Palermo ·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No Funcionales — resumen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0350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requisitos no funcionales — IEEE 29148 con métrica de verificación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4251960" cy="1188720"/>
          </a:xfrm>
          <a:prstGeom prst="roundRect">
            <a:avLst>
              <a:gd name="adj" fmla="val 7692"/>
            </a:avLst>
          </a:prstGeom>
          <a:solidFill>
            <a:srgbClr val="16223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1097280" cy="201168"/>
          </a:xfrm>
          <a:prstGeom prst="roundRect">
            <a:avLst>
              <a:gd name="adj" fmla="val 18182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RNF-01/02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0" y="107899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40050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&lt; 500ms (p95). Caché Redis TTL 60s en ms-veterinario.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987552"/>
            <a:ext cx="4251960" cy="1188720"/>
          </a:xfrm>
          <a:prstGeom prst="roundRect">
            <a:avLst>
              <a:gd name="adj" fmla="val 7692"/>
            </a:avLst>
          </a:prstGeom>
          <a:solidFill>
            <a:srgbClr val="16223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0" y="1097280"/>
            <a:ext cx="1097280" cy="201168"/>
          </a:xfrm>
          <a:prstGeom prst="roundRect">
            <a:avLst>
              <a:gd name="adj" fmla="val 18182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972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RNF-03/04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080760" y="107899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463040"/>
            <a:ext cx="40050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aísla fallos. Actuator + Eureka muestran salud de cada MS.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313432"/>
            <a:ext cx="4251960" cy="1188720"/>
          </a:xfrm>
          <a:prstGeom prst="roundRect">
            <a:avLst>
              <a:gd name="adj" fmla="val 7692"/>
            </a:avLst>
          </a:prstGeom>
          <a:solidFill>
            <a:srgbClr val="162233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423160"/>
            <a:ext cx="1097280" cy="201168"/>
          </a:xfrm>
          <a:prstGeom prst="roundRect">
            <a:avLst>
              <a:gd name="adj" fmla="val 18182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42316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RNF-05/06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645920" y="240487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2788920"/>
            <a:ext cx="40050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24h en todos los endpoints. Sin credenciales hardcodeadas en el código.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313432"/>
            <a:ext cx="4251960" cy="1188720"/>
          </a:xfrm>
          <a:prstGeom prst="roundRect">
            <a:avLst>
              <a:gd name="adj" fmla="val 7692"/>
            </a:avLst>
          </a:prstGeom>
          <a:solidFill>
            <a:srgbClr val="162233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92040" y="2423160"/>
            <a:ext cx="1097280" cy="201168"/>
          </a:xfrm>
          <a:prstGeom prst="roundRect">
            <a:avLst>
              <a:gd name="adj" fmla="val 18182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42316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RNF-07/08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080760" y="240487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Mantenibilidad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2788920"/>
            <a:ext cx="40050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hexagonal en MS. Cobertura tests ≥ 70% en capa Service.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639312"/>
            <a:ext cx="4251960" cy="1188720"/>
          </a:xfrm>
          <a:prstGeom prst="roundRect">
            <a:avLst>
              <a:gd name="adj" fmla="val 7692"/>
            </a:avLst>
          </a:prstGeom>
          <a:solidFill>
            <a:srgbClr val="162233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749040"/>
            <a:ext cx="1097280" cy="201168"/>
          </a:xfrm>
          <a:prstGeom prst="roundRect">
            <a:avLst>
              <a:gd name="adj" fmla="val 18182"/>
            </a:avLst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7490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RNF-09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645920" y="373075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4114800"/>
            <a:ext cx="40050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Swagger/OpenAPI 3 disponible en /swagger-ui.html en monolito y Gateway.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3639312"/>
            <a:ext cx="4251960" cy="1188720"/>
          </a:xfrm>
          <a:prstGeom prst="roundRect">
            <a:avLst>
              <a:gd name="adj" fmla="val 7692"/>
            </a:avLst>
          </a:prstGeom>
          <a:solidFill>
            <a:srgbClr val="16223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3749040"/>
            <a:ext cx="1097280" cy="201168"/>
          </a:xfrm>
          <a:prstGeom prst="roundRect">
            <a:avLst>
              <a:gd name="adj" fmla="val 18182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7490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RNF-10/11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080760" y="373075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92040" y="4114800"/>
            <a:ext cx="40050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levanta el stack completo. Config Server externaliza todo.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 y APIs Escalables · Universidad de Palermo ·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6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0" dirty="0"/>
          </a:p>
        </p:txBody>
      </p:sp>
      <p:sp>
        <p:nvSpPr>
          <p:cNvPr id="3" name="Shape 1"/>
          <p:cNvSpPr/>
          <p:nvPr/>
        </p:nvSpPr>
        <p:spPr>
          <a:xfrm>
            <a:off x="274320" y="1600200"/>
            <a:ext cx="109728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71907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432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 individual · Oral individual · Sprints por pareja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 y APIs Escalables · Universidad de Palermo ·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evaluación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804672"/>
            <a:ext cx="2816352" cy="4023360"/>
          </a:xfrm>
          <a:prstGeom prst="roundRect">
            <a:avLst>
              <a:gd name="adj" fmla="val 4545"/>
            </a:avLst>
          </a:prstGeom>
          <a:solidFill>
            <a:srgbClr val="162233"/>
          </a:solidFill>
          <a:ln w="254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960120"/>
            <a:ext cx="2816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20040" y="1783080"/>
            <a:ext cx="2816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 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5840" y="2286000"/>
            <a:ext cx="1444752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2450592"/>
            <a:ext cx="91440" cy="91440"/>
          </a:xfrm>
          <a:prstGeom prst="oval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423160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6072" y="2889504"/>
            <a:ext cx="91440" cy="91440"/>
          </a:xfrm>
          <a:prstGeom prst="oval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862072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Teoría: MVC, patrones, REST, JPA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6072" y="3328416"/>
            <a:ext cx="91440" cy="91440"/>
          </a:xfrm>
          <a:prstGeom prst="oval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300984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Práctica: API veterinaria funcionando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072" y="3767328"/>
            <a:ext cx="91440" cy="91440"/>
          </a:xfrm>
          <a:prstGeom prst="oval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739896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Recuperatorio disponible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64408" y="804672"/>
            <a:ext cx="2816352" cy="4023360"/>
          </a:xfrm>
          <a:prstGeom prst="roundRect">
            <a:avLst>
              <a:gd name="adj" fmla="val 4545"/>
            </a:avLst>
          </a:prstGeom>
          <a:solidFill>
            <a:srgbClr val="162233"/>
          </a:solidFill>
          <a:ln w="2540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64408" y="960120"/>
            <a:ext cx="2816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3264408" y="1783080"/>
            <a:ext cx="2816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Final — Oral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950208" y="2286000"/>
            <a:ext cx="1444752" cy="3657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0440" y="2450592"/>
            <a:ext cx="91440" cy="91440"/>
          </a:xfrm>
          <a:prstGeom prst="oval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75888" y="2423160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520440" y="2889504"/>
            <a:ext cx="91440" cy="91440"/>
          </a:xfrm>
          <a:prstGeom prst="oval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75888" y="2862072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 del sistema completo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520440" y="3328416"/>
            <a:ext cx="91440" cy="91440"/>
          </a:xfrm>
          <a:prstGeom prst="oval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75888" y="3300984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de decisiones de arquitectura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20440" y="3767328"/>
            <a:ext cx="91440" cy="91440"/>
          </a:xfrm>
          <a:prstGeom prst="oval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75888" y="3739896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 cumplida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08776" y="804672"/>
            <a:ext cx="2816352" cy="4023360"/>
          </a:xfrm>
          <a:prstGeom prst="roundRect">
            <a:avLst>
              <a:gd name="adj" fmla="val 4545"/>
            </a:avLst>
          </a:prstGeom>
          <a:solidFill>
            <a:srgbClr val="162233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08776" y="960120"/>
            <a:ext cx="2816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5200" dirty="0"/>
          </a:p>
        </p:txBody>
      </p:sp>
      <p:sp>
        <p:nvSpPr>
          <p:cNvPr id="29" name="Text 27"/>
          <p:cNvSpPr/>
          <p:nvPr/>
        </p:nvSpPr>
        <p:spPr>
          <a:xfrm>
            <a:off x="6208776" y="1783080"/>
            <a:ext cx="2816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894576" y="2286000"/>
            <a:ext cx="1444752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64808" y="2450592"/>
            <a:ext cx="91440" cy="91440"/>
          </a:xfrm>
          <a:prstGeom prst="oval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0256" y="2423160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pareja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64808" y="2889504"/>
            <a:ext cx="91440" cy="91440"/>
          </a:xfrm>
          <a:prstGeom prst="oval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0256" y="2862072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parciales sprint a sprint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64808" y="3328416"/>
            <a:ext cx="91440" cy="91440"/>
          </a:xfrm>
          <a:prstGeom prst="oval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0256" y="3300984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entre compañeros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64808" y="3767328"/>
            <a:ext cx="91440" cy="91440"/>
          </a:xfrm>
          <a:prstGeom prst="oval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0256" y="3739896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Actitud en el equipo ágil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0040" y="4645152"/>
            <a:ext cx="8503920" cy="292608"/>
          </a:xfrm>
          <a:prstGeom prst="roundRect">
            <a:avLst>
              <a:gd name="adj" fmla="val 25000"/>
            </a:avLst>
          </a:prstGeom>
          <a:solidFill>
            <a:srgbClr val="162233"/>
          </a:solidFill>
          <a:ln w="12700">
            <a:solidFill>
              <a:srgbClr val="8FAFC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64515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En la oral: cada estudiante defiende sus propias decisiones de arquitectura — no las del compañero.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 y APIs Escalables · Universidad de Palermo ·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74320"/>
            <a:ext cx="713232" cy="7040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15568" y="3474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Palermo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15568" y="6217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 y APIs Escalables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2004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llevan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esta materia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320040" y="2304288"/>
            <a:ext cx="8503920" cy="786384"/>
          </a:xfrm>
          <a:prstGeom prst="roundRect">
            <a:avLst>
              <a:gd name="adj" fmla="val 11628"/>
            </a:avLst>
          </a:prstGeom>
          <a:solidFill>
            <a:srgbClr val="162233"/>
          </a:solidFill>
          <a:ln w="12700">
            <a:solidFill>
              <a:srgbClr val="0077B6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23160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23774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real en producción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914400" y="267919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 ejercicio. Un stack de microservicios que levanta con Docker Compose.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20040" y="3200400"/>
            <a:ext cx="8503920" cy="786384"/>
          </a:xfrm>
          <a:prstGeom prst="roundRect">
            <a:avLst>
              <a:gd name="adj" fmla="val 11628"/>
            </a:avLst>
          </a:prstGeom>
          <a:solidFill>
            <a:srgbClr val="162233"/>
          </a:solidFill>
          <a:ln w="12700">
            <a:solidFill>
              <a:srgbClr val="0077B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19272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4400" y="327355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arquitectura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914400" y="35753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cuándo usar monolito, cuándo microservicios, y sobre todo: por qué.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320040" y="4096512"/>
            <a:ext cx="8503920" cy="786384"/>
          </a:xfrm>
          <a:prstGeom prst="roundRect">
            <a:avLst>
              <a:gd name="adj" fmla="val 11628"/>
            </a:avLst>
          </a:prstGeom>
          <a:solidFill>
            <a:srgbClr val="162233"/>
          </a:solidFill>
          <a:ln w="12700">
            <a:solidFill>
              <a:srgbClr val="0077B6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215384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14400" y="416966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de trabajo ágil real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914400" y="44714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Sprints, definition of done, code review, roles. Lo que pide la industria.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32004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 y APIs Escalables · Universidad de Palermo ·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Microservicios y APIs Escalables — UP 2026</dc:title>
  <dc:subject>PptxGenJS Presentation</dc:subject>
  <dc:creator>Ing. Jorge Agustín Pereyra</dc:creator>
  <cp:lastModifiedBy>Ing. Jorge Agustín Pereyra</cp:lastModifiedBy>
  <cp:revision>1</cp:revision>
  <dcterms:created xsi:type="dcterms:W3CDTF">2026-06-28T16:59:48Z</dcterms:created>
  <dcterms:modified xsi:type="dcterms:W3CDTF">2026-06-28T16:59:48Z</dcterms:modified>
</cp:coreProperties>
</file>