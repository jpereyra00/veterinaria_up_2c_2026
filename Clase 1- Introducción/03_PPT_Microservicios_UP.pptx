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ofS9s+aefcGEnKlUNRip6cTXZ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Portada. Presentar brevemente la materia, el dominio (clínica veterinaria) y el arco de la cursada.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sistema es UNO y evoluciona. El dominio no cambia — la arquitectura sí. Eso es el aprendizaje.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live coding NO es tutorial. Es el andamiaje arquitectural. El resto lo resuelven ellos.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Dejar muy claro que el 40 minutos de sprint es tiempo de trabajo real, no lectura.</a:t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Cierre. La clave: no es solo aprender tecnología. Es aprender a tomar decisiones de arquitectura.</a:t>
            </a:r>
            <a:endParaRPr/>
          </a:p>
        </p:txBody>
      </p:sp>
      <p:sp>
        <p:nvSpPr>
          <p:cNvPr id="435" name="Google Shape;4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2B3E"/>
          </a:solidFill>
          <a:ln cap="flat" cmpd="sng" w="12700">
            <a:solidFill>
              <a:srgbClr val="1B2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0A1520"/>
          </a:solidFill>
          <a:ln cap="flat" cmpd="sng" w="12700">
            <a:solidFill>
              <a:srgbClr val="0A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8040" y="320040"/>
            <a:ext cx="1097280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995160" y="15087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Universidad de Palermo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411480"/>
            <a:ext cx="3474720" cy="292608"/>
          </a:xfrm>
          <a:prstGeom prst="roundRect">
            <a:avLst>
              <a:gd fmla="val 18750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411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 ELECTIVA  ·  UNIVERSIDAD DE PALERMO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91440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14173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Escalables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2304288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 Spring Boot 4.1.0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2926080"/>
            <a:ext cx="27432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65760" y="309067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Ing. Jorge Agustín Pereyra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343814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Ingeniero de Software · Docente ·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65760" y="4069080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65760" y="40690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Spring Boot 4.1.0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514600" y="4069080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2514600" y="40690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Bootstrap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663440" y="4069080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4663440" y="40690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65760" y="4416552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65760" y="44165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514600" y="4416552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2514600" y="44165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663440" y="4416552"/>
            <a:ext cx="2011680" cy="256032"/>
          </a:xfrm>
          <a:prstGeom prst="roundRect">
            <a:avLst>
              <a:gd fmla="val 17857" name="adj"/>
            </a:avLst>
          </a:prstGeom>
          <a:solidFill>
            <a:srgbClr val="1E3050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4663440" y="44165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3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16223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CONSTRUIMOS?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 un monolito a una arquitectura de microservicios real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Proyecto Integrador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Clínica Veterinaria 'Patitas Felices' — un sistema que evoluciona sprint a sprint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051560"/>
            <a:ext cx="2029968" cy="1371600"/>
          </a:xfrm>
          <a:prstGeom prst="roundRect">
            <a:avLst>
              <a:gd fmla="val 6667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144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365760" y="1627632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Dueño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956816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nombre, DNI, teléfono, email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542032" y="1051560"/>
            <a:ext cx="2029968" cy="1371600"/>
          </a:xfrm>
          <a:prstGeom prst="roundRect">
            <a:avLst>
              <a:gd fmla="val 6667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416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2542032" y="1627632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Mascota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633472" y="1956816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especie, raza, fechaNacimiento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718304" y="1051560"/>
            <a:ext cx="2029968" cy="1371600"/>
          </a:xfrm>
          <a:prstGeom prst="roundRect">
            <a:avLst>
              <a:gd fmla="val 6667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4688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4718304" y="1627632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Veterinario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809744" y="1956816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matrícula, especialidad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94576" y="1051560"/>
            <a:ext cx="2029968" cy="1371600"/>
          </a:xfrm>
          <a:prstGeom prst="roundRect">
            <a:avLst>
              <a:gd fmla="val 6667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960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6894576" y="1627632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986016" y="1956816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fecha, hora, estado, motivo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2606040"/>
            <a:ext cx="3931920" cy="2212848"/>
          </a:xfrm>
          <a:prstGeom prst="roundRect">
            <a:avLst>
              <a:gd fmla="val 4959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2920" y="2679192"/>
            <a:ext cx="1371600" cy="237744"/>
          </a:xfrm>
          <a:prstGeom prst="roundRect">
            <a:avLst>
              <a:gd fmla="val 19231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02920" y="267919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 · Sprints 1–7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0175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987552" y="303580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Monolito MVC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4930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86384" y="347472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Spring Boot 4.1.0 + JPA + 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8221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786384" y="380390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REST API completa (Dueño, Mascota, Vet, Turno)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786384" y="41330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DTOs + validaciones + manejo de errores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4480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786384" y="44622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Testing JUnit 5 + Mockito · Swagger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48097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786384" y="479145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Bootstrap 5 + JS Fetch (frontend)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325112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28032" y="2606040"/>
            <a:ext cx="3950208" cy="2212848"/>
          </a:xfrm>
          <a:prstGeom prst="roundRect">
            <a:avLst>
              <a:gd fmla="val 4959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965192" y="2679192"/>
            <a:ext cx="1463040" cy="237744"/>
          </a:xfrm>
          <a:prstGeom prst="roundRect">
            <a:avLst>
              <a:gd fmla="val 19231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965192" y="267919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FASE 2 · Sprints 9–14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10912" y="30175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5449824" y="303580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Microservicios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2624" y="34930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5248656" y="3474720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Hexagonal · Eureka · Config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2624" y="38221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248656" y="3803904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API Gateway + Resilience4J (Circuit Breaker)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2624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5248656" y="4133088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Spring Security + JWT (roles ADMIN / VET)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2624" y="4480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5248656" y="4462272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OpenFeign (comunicación entre servicios)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2624" y="48097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5248656" y="4791456"/>
            <a:ext cx="3456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Redis · MongoDB · Docker Compose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3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16223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ROLES Y METODOLOGÍA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Ingeniero de Software + Programadores + Scrum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de trabajo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Simulamos un equipo real de software durante toda la cursada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1005840"/>
            <a:ext cx="3858768" cy="3749040"/>
          </a:xfrm>
          <a:prstGeom prst="roundRect">
            <a:avLst>
              <a:gd fmla="val 3415" name="adj"/>
            </a:avLst>
          </a:prstGeom>
          <a:solidFill>
            <a:srgbClr val="162233"/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768" y="117043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57200" y="18288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Ingeniero de 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221284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(el docente)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12064" y="2633472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94944" y="2596896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Define la arquitectura del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12064" y="3017520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94944" y="2980944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Actúa como Product 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12064" y="340156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94944" y="3364992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Hace live coding de la parte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12064" y="3785616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94944" y="3749040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Explica el POR QUÉ de cada decisión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12064" y="4169664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94944" y="4133088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Audita el código entregado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51960" y="2606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919472" y="1005840"/>
            <a:ext cx="3858768" cy="3749040"/>
          </a:xfrm>
          <a:prstGeom prst="roundRect">
            <a:avLst>
              <a:gd fmla="val 3415" name="adj"/>
            </a:avLst>
          </a:prstGeom>
          <a:solidFill>
            <a:srgbClr val="162233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17043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5010912" y="18288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Programador Junior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10912" y="221284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(los estudiantes — en parejas)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65776" y="2633472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248656" y="2596896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Completa la funcionalidad del sprint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065776" y="3017520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248656" y="2980944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Implementa tests y validaciones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065776" y="340156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248656" y="3364992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Hace code review con su compañero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065776" y="3785616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248656" y="3749040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Justifica sus decisiones técnicas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065776" y="4169664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248656" y="4133088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Cumple la Definition of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Anatomía de cada clase (sprint)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2 horas · 5 momentos · un entregable concreto al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74320" y="1051560"/>
            <a:ext cx="1609344" cy="3749040"/>
          </a:xfrm>
          <a:prstGeom prst="roundRect">
            <a:avLst>
              <a:gd fmla="val 5682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50392" y="118872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50392" y="1188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5760" y="1719072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2240280"/>
            <a:ext cx="144475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Demo del sprint anterior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Feedback del ISW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856232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011680" y="1051560"/>
            <a:ext cx="1609344" cy="3749040"/>
          </a:xfrm>
          <a:prstGeom prst="roundRect">
            <a:avLst>
              <a:gd fmla="val 5682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587752" y="118872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587752" y="1188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103120" y="1719072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Teoría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103120" y="2240280"/>
            <a:ext cx="144475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Concepto del sprint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¿Por qué esta decisión?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593592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749040" y="1051560"/>
            <a:ext cx="1609344" cy="3749040"/>
          </a:xfrm>
          <a:prstGeom prst="roundRect">
            <a:avLst>
              <a:gd fmla="val 5682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4325112" y="118872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325112" y="1188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840480" y="1719072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840480" y="2240280"/>
            <a:ext cx="144475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El ISW codea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la parte clave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330952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86400" y="1051560"/>
            <a:ext cx="1609344" cy="3749040"/>
          </a:xfrm>
          <a:prstGeom prst="roundRect">
            <a:avLst>
              <a:gd fmla="val 5682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062472" y="118872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062472" y="1188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577840" y="1719072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577840" y="2240280"/>
            <a:ext cx="144475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40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Las parejas completan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el backlog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7068312" y="26974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223760" y="1051560"/>
            <a:ext cx="1609344" cy="3749040"/>
          </a:xfrm>
          <a:prstGeom prst="roundRect">
            <a:avLst>
              <a:gd fmla="val 5682" name="adj"/>
            </a:avLst>
          </a:prstGeom>
          <a:solidFill>
            <a:srgbClr val="162233"/>
          </a:solidFill>
          <a:ln cap="flat" cmpd="sng" w="12700">
            <a:solidFill>
              <a:srgbClr val="8FAFC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7799832" y="1188720"/>
            <a:ext cx="438912" cy="438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FAFC7"/>
          </a:solidFill>
          <a:ln cap="flat" cmpd="sng" w="12700">
            <a:solidFill>
              <a:srgbClr val="8FA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7799832" y="11887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315200" y="1719072"/>
            <a:ext cx="144475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Retro / DoD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315200" y="2240280"/>
            <a:ext cx="144475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Definition of Done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¿Qué aprendimos?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3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16223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13 sprints funcionales · 1 parcial · 1 oral · 1 recuperatorio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 · Monolito MVC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Sprints 1 a 7 · Clínica Veterinaria · Spring Boot 4.1.0 + JPA + Bootstrap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20040" y="98755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93192" y="107899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93192" y="107899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1480" y="137160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Kickoff + dominio +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11480" y="206654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Spring Boot 4.1.0 · Git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2514600" y="98755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2587752" y="107899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587752" y="107899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606040" y="137160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MVC + REST · CRUD Dueño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606040" y="206654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Spring MVC · 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709160" y="98755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782312" y="107899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782312" y="107899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00600" y="137160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JPA + relaciones · CRUD Mascota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00600" y="206654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JPA · Hibernate · MySQL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903720" y="98755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976872" y="107899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976872" y="107899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995160" y="137160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 Turno + Veterinario + DTOs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995160" y="206654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MapStruct · Lombok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20040" y="286207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93192" y="295351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93192" y="295351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" y="324612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Validaciones + manejo de errores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394106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Bean Validation · @ControllerAdvice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2514600" y="286207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587752" y="295351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2587752" y="295351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606040" y="324612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Testing: JUnit 5 + Mockito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606040" y="394106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JUnit 5 · Mockito · MockMvc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709160" y="2862072"/>
            <a:ext cx="2066544" cy="1691640"/>
          </a:xfrm>
          <a:prstGeom prst="roundRect">
            <a:avLst>
              <a:gd fmla="val 5405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782312" y="2953512"/>
            <a:ext cx="384048" cy="219456"/>
          </a:xfrm>
          <a:prstGeom prst="roundRect">
            <a:avLst>
              <a:gd fmla="val 20833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782312" y="2953512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800600" y="3246120"/>
            <a:ext cx="1901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Swagger + Bootstrap UI + migración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800600" y="3941064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OpenAPI 3 · Bootstrap 5 · JS Fetch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fmla="val 22857" name="adj"/>
            </a:avLst>
          </a:prstGeom>
          <a:solidFill>
            <a:srgbClr val="1A0A0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🎯  PARCIAL 1 — Individual · Teoría + API veterinaria funcionando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365760" y="164592"/>
            <a:ext cx="8412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 · Microservicios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Sprints 9 a 14 · Spring Cloud · Hexagonal · 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20040" y="98755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11480" y="107899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11480" y="107899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29768" y="142646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Hexagonal + extracción de servicios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29768" y="208483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Arquitectura Hexagonal · DDD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46120" y="98755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337560" y="107899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337560" y="107899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355848" y="142646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Eureka + Config Server + Actuator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355848" y="208483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Spring Cloud · Micrometer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172200" y="98755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263640" y="107899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263640" y="107899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281928" y="142646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 + Resilience4J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281928" y="208483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Spring Cloud Gateway · Circuit Breaker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20040" y="295351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11480" y="304495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411480" y="304495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29768" y="339242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Security + JWT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29768" y="405079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Spring Security 6 · Bearer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246120" y="295351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3337560" y="304495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3337560" y="304495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355848" y="339242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OpenFeign — comunicación entre 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355848" y="405079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OpenFeign · LoadBalancer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172200" y="2953512"/>
            <a:ext cx="2788920" cy="1737360"/>
          </a:xfrm>
          <a:prstGeom prst="roundRect">
            <a:avLst>
              <a:gd fmla="val 5263" name="adj"/>
            </a:avLst>
          </a:prstGeom>
          <a:solidFill>
            <a:srgbClr val="162233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6263640" y="3044952"/>
            <a:ext cx="420624" cy="237744"/>
          </a:xfrm>
          <a:prstGeom prst="roundRect">
            <a:avLst>
              <a:gd fmla="val 19231" name="adj"/>
            </a:avLst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263640" y="3044952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6281928" y="3392424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 + MongoDB + Docker Compose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281928" y="4050792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2D8B"/>
                </a:solidFill>
                <a:latin typeface="Calibri"/>
                <a:ea typeface="Calibri"/>
                <a:cs typeface="Calibri"/>
                <a:sym typeface="Calibri"/>
              </a:rPr>
              <a:t>Redis 7 · MongoDB 7 · Docker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fmla="val 22857" name="adj"/>
            </a:avLst>
          </a:prstGeom>
          <a:solidFill>
            <a:srgbClr val="001A0A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🎤  ORAL — Individual · Demo en vivo + defensa de arquitectura    |    🔄  RECUPERATORIO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3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16223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RF y RNF del sistema VetSystem — IEEE 29148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365760" y="18288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Funcionales — resumen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16 requisitos funcionales identificados en la elicitación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320040" y="98755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247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886968" y="10972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886968" y="1097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RF-01 a RF-04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057400" y="10789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Dueños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57200" y="151790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Registrar, consultar, actualizar y eliminar dueños con validación de DNI único.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754880" y="98755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1247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/>
          <p:cNvSpPr/>
          <p:nvPr/>
        </p:nvSpPr>
        <p:spPr>
          <a:xfrm>
            <a:off x="5321808" y="10972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321808" y="1097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RF-05 a RF-07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92240" y="10789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Mascotas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892040" y="151790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ABM de mascotas asociadas a un dueño. Relación @ManyToOne con Dueño.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320040" y="231343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4505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886968" y="242316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886968" y="24231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RF-08 a RF-09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2057400" y="240487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Veterinarios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284378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ABM de veterinarios. Consulta con caché Redis en la fase de microservicios.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754880" y="231343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24505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/>
          <p:nvPr/>
        </p:nvSpPr>
        <p:spPr>
          <a:xfrm>
            <a:off x="5321808" y="242316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321808" y="24231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RF-10 a RF-13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92240" y="240487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Turnos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892040" y="284378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Registrar turnos sin superposición. Actualizar estado. Historial en MongoDB.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20040" y="363931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7764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886968" y="374904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886968" y="37490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RF-14 a RF-15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057400" y="37307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y Acceso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57200" y="416966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Login con JWT. Roles ADMIN y VETERINARIO. El Gateway valida el token antes de rutear.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754880" y="363931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2040" y="37764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5321808" y="374904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321808" y="37490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RF-16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492240" y="37307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Resiliencia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892040" y="4169664"/>
            <a:ext cx="40050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Circuit Breaker en el Gateway. Si ms-veterinario falla, el sistema devuelve fallback.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/>
          <p:nvPr/>
        </p:nvSpPr>
        <p:spPr>
          <a:xfrm>
            <a:off x="365760" y="18288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No Funcionales — resumen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11 requisitos no funcionales — IEEE 29148 con métrica de verificación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20040" y="98755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457200" y="10972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457200" y="1097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RNF-01/02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645920" y="10789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57200" y="146304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Respuesta &lt; 500ms (p95). Caché Redis TTL 60s en ms-veterinario.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754880" y="98755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4892040" y="10972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4892040" y="10972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RNF-03/04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080760" y="10789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Disponibilidad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892040" y="146304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Circuit Breaker aísla fallos. Actuator + Eureka muestran salud de cada 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320040" y="231343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457200" y="242316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7200" y="24231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RNF-05/06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645920" y="2404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278892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JWT 24h en todos los endpoints. Sin credenciales hardcodeadas en el código.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754880" y="231343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4892040" y="242316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892040" y="24231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RNF-07/08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080760" y="2404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Mantenibilidad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892040" y="278892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Arquitectura hexagonal en MS. Cobertura tests ≥ 70% en capa Service.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20040" y="363931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457200" y="374904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457200" y="37490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645920" y="373075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7200" y="411480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Swagger/OpenAPI 3 disponible en /swagger-ui.html en monolito y Gateway.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754880" y="3639312"/>
            <a:ext cx="4251960" cy="1188720"/>
          </a:xfrm>
          <a:prstGeom prst="roundRect">
            <a:avLst>
              <a:gd fmla="val 7692" name="adj"/>
            </a:avLst>
          </a:prstGeom>
          <a:solidFill>
            <a:srgbClr val="16223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4892040" y="374904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892040" y="37490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RNF-10/11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6080760" y="373075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892040" y="4114800"/>
            <a:ext cx="40050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docker-compose levanta el stack completo. Config Server externaliza todo.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"/>
          <p:cNvSpPr/>
          <p:nvPr/>
        </p:nvSpPr>
        <p:spPr>
          <a:xfrm>
            <a:off x="274320" y="18288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3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16223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274320" y="1600200"/>
            <a:ext cx="1097280" cy="5486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274320" y="1719072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27432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Parcial individual · Oral individual · Sprints por pareja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3E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"/>
          <p:cNvSpPr/>
          <p:nvPr/>
        </p:nvSpPr>
        <p:spPr>
          <a:xfrm>
            <a:off x="365760" y="18288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Criterios de evaluación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20040" y="804672"/>
            <a:ext cx="2816352" cy="4023360"/>
          </a:xfrm>
          <a:prstGeom prst="roundRect">
            <a:avLst>
              <a:gd fmla="val 4545" name="adj"/>
            </a:avLst>
          </a:prstGeom>
          <a:solidFill>
            <a:srgbClr val="162233"/>
          </a:solidFill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320040" y="960120"/>
            <a:ext cx="2816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20040" y="1783080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Parcial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005840" y="2286000"/>
            <a:ext cx="1444752" cy="36576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576072" y="2450592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731520" y="242316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76072" y="288950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731520" y="2862072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Teoría: MVC, patrones, REST, JPA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576072" y="332841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731520" y="3300984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Práctica: API veterinaria funcionando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76072" y="37673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731520" y="3739896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Recuperatorio disponible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3264408" y="804672"/>
            <a:ext cx="2816352" cy="4023360"/>
          </a:xfrm>
          <a:prstGeom prst="roundRect">
            <a:avLst>
              <a:gd fmla="val 4545" name="adj"/>
            </a:avLst>
          </a:prstGeom>
          <a:solidFill>
            <a:srgbClr val="162233"/>
          </a:solidFill>
          <a:ln cap="flat" cmpd="sng" w="254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3264408" y="960120"/>
            <a:ext cx="2816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3264408" y="1783080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 Final — Oral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3950208" y="2286000"/>
            <a:ext cx="1444752" cy="36576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3520440" y="2450592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3675888" y="242316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520440" y="288950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3675888" y="2862072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Demo en vivo del sistema completo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3520440" y="332841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3675888" y="3300984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Defensa de decisiones de arquitectura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520440" y="37673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3675888" y="3739896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Definition of Done cumplida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208776" y="804672"/>
            <a:ext cx="2816352" cy="4023360"/>
          </a:xfrm>
          <a:prstGeom prst="roundRect">
            <a:avLst>
              <a:gd fmla="val 4545" name="adj"/>
            </a:avLst>
          </a:prstGeom>
          <a:solidFill>
            <a:srgbClr val="162233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208776" y="960120"/>
            <a:ext cx="2816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208776" y="1783080"/>
            <a:ext cx="28163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6894576" y="2286000"/>
            <a:ext cx="1444752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6464808" y="2450592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6620256" y="2423160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Por pareja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6464808" y="2889504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6620256" y="2862072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Entregas parciales sprint a sprint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464808" y="3328416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6620256" y="3300984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Code review entre compañeros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464808" y="3767328"/>
            <a:ext cx="91440" cy="91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6620256" y="3739896"/>
            <a:ext cx="23042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Actitud en el equipo ágil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320040" y="4645152"/>
            <a:ext cx="8503920" cy="292608"/>
          </a:xfrm>
          <a:prstGeom prst="roundRect">
            <a:avLst>
              <a:gd fmla="val 25000" name="adj"/>
            </a:avLst>
          </a:prstGeom>
          <a:solidFill>
            <a:srgbClr val="162233"/>
          </a:solidFill>
          <a:ln cap="flat" cmpd="sng" w="12700">
            <a:solidFill>
              <a:srgbClr val="8FA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57200" y="464515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💡 En la oral: cada estudiante defiende sus propias decisiones de arquitectura — no las del compañero.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74320"/>
            <a:ext cx="713232" cy="7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5"/>
          <p:cNvSpPr/>
          <p:nvPr/>
        </p:nvSpPr>
        <p:spPr>
          <a:xfrm>
            <a:off x="1115568" y="3474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Universidad de Palermo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1115568" y="6217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320040" y="1097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se llevan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esta materia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320040" y="2304288"/>
            <a:ext cx="8503920" cy="786384"/>
          </a:xfrm>
          <a:prstGeom prst="roundRect">
            <a:avLst>
              <a:gd fmla="val 11628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423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5"/>
          <p:cNvSpPr/>
          <p:nvPr/>
        </p:nvSpPr>
        <p:spPr>
          <a:xfrm>
            <a:off x="914400" y="23774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sistema real en producción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914400" y="26791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No un ejercicio. Un stack de microservicios que levanta con Docker Compose.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320040" y="3200400"/>
            <a:ext cx="8503920" cy="786384"/>
          </a:xfrm>
          <a:prstGeom prst="roundRect">
            <a:avLst>
              <a:gd fmla="val 11628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319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/>
          <p:nvPr/>
        </p:nvSpPr>
        <p:spPr>
          <a:xfrm>
            <a:off x="914400" y="32735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 de arquitectura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914400" y="357530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Saber cuándo usar monolito, cuándo microservicios, y sobre todo: por qué.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320040" y="4096512"/>
            <a:ext cx="8503920" cy="786384"/>
          </a:xfrm>
          <a:prstGeom prst="roundRect">
            <a:avLst>
              <a:gd fmla="val 11628" name="adj"/>
            </a:avLst>
          </a:prstGeom>
          <a:solidFill>
            <a:srgbClr val="162233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2153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5"/>
          <p:cNvSpPr/>
          <p:nvPr/>
        </p:nvSpPr>
        <p:spPr>
          <a:xfrm>
            <a:off x="914400" y="416966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Experiencia de trabajo ágil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914400" y="447141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Sprints, definition of done, code review, roles. Lo que pide la industria.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F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FC7"/>
                </a:solidFill>
                <a:latin typeface="Calibri"/>
                <a:ea typeface="Calibri"/>
                <a:cs typeface="Calibri"/>
                <a:sym typeface="Calibri"/>
              </a:rPr>
              <a:t>Microservicios y APIs Escalables · Universidad de Palermo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2026-06-28T16:59:48Z</dcterms:created>
  <dc:creator>Ing. Jorge Agustín Pereyra</dc:creator>
</cp:coreProperties>
</file>